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73" r:id="rId8"/>
    <p:sldId id="274" r:id="rId9"/>
    <p:sldId id="275" r:id="rId10"/>
    <p:sldId id="276" r:id="rId11"/>
    <p:sldId id="277" r:id="rId12"/>
    <p:sldId id="272" r:id="rId13"/>
    <p:sldId id="278" r:id="rId14"/>
    <p:sldId id="279" r:id="rId15"/>
    <p:sldId id="280" r:id="rId16"/>
    <p:sldId id="281" r:id="rId17"/>
    <p:sldId id="265" r:id="rId18"/>
    <p:sldId id="266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BE0A4-276C-4B04-91D3-A28D9132508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CFA35-6A0D-4F8F-8D82-58EA21A28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058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69" y="542036"/>
            <a:ext cx="212915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372725" cy="657225"/>
          </a:xfrm>
          <a:custGeom>
            <a:avLst/>
            <a:gdLst/>
            <a:ahLst/>
            <a:cxnLst/>
            <a:rect l="l" t="t" r="r" b="b"/>
            <a:pathLst>
              <a:path w="10372725" h="657225">
                <a:moveTo>
                  <a:pt x="10372725" y="0"/>
                </a:moveTo>
                <a:lnTo>
                  <a:pt x="0" y="0"/>
                </a:lnTo>
                <a:lnTo>
                  <a:pt x="0" y="657225"/>
                </a:lnTo>
                <a:lnTo>
                  <a:pt x="10372725" y="657225"/>
                </a:lnTo>
                <a:lnTo>
                  <a:pt x="10372725" y="0"/>
                </a:lnTo>
                <a:close/>
              </a:path>
            </a:pathLst>
          </a:custGeom>
          <a:solidFill>
            <a:srgbClr val="2535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96075"/>
            <a:ext cx="12192000" cy="161925"/>
          </a:xfrm>
          <a:custGeom>
            <a:avLst/>
            <a:gdLst/>
            <a:ahLst/>
            <a:cxnLst/>
            <a:rect l="l" t="t" r="r" b="b"/>
            <a:pathLst>
              <a:path w="12192000" h="161925">
                <a:moveTo>
                  <a:pt x="12192000" y="0"/>
                </a:moveTo>
                <a:lnTo>
                  <a:pt x="0" y="0"/>
                </a:lnTo>
                <a:lnTo>
                  <a:pt x="0" y="161925"/>
                </a:lnTo>
                <a:lnTo>
                  <a:pt x="12192000" y="1619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34A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26338" y="134286"/>
            <a:ext cx="1357906" cy="386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69" y="542036"/>
            <a:ext cx="7387590" cy="9162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907" y="1547749"/>
            <a:ext cx="10413365" cy="392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pcb.nic.in/" TargetMode="External"/><Relationship Id="rId7" Type="http://schemas.openxmlformats.org/officeDocument/2006/relationships/hyperlink" Target="https://scikit-learn.org/" TargetMode="External"/><Relationship Id="rId2" Type="http://schemas.openxmlformats.org/officeDocument/2006/relationships/hyperlink" Target="https://data.gov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thon.org/" TargetMode="External"/><Relationship Id="rId5" Type="http://schemas.openxmlformats.org/officeDocument/2006/relationships/hyperlink" Target="https://posoco.in/" TargetMode="External"/><Relationship Id="rId4" Type="http://schemas.openxmlformats.org/officeDocument/2006/relationships/hyperlink" Target="https://cwc.gov.in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3429000"/>
              <a:ext cx="390525" cy="3429000"/>
            </a:xfrm>
            <a:custGeom>
              <a:avLst/>
              <a:gdLst/>
              <a:ahLst/>
              <a:cxnLst/>
              <a:rect l="l" t="t" r="r" b="b"/>
              <a:pathLst>
                <a:path w="390525" h="3429000">
                  <a:moveTo>
                    <a:pt x="0" y="3429000"/>
                  </a:moveTo>
                  <a:lnTo>
                    <a:pt x="390524" y="3429000"/>
                  </a:lnTo>
                  <a:lnTo>
                    <a:pt x="390525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28600" cy="3429000"/>
            </a:xfrm>
            <a:custGeom>
              <a:avLst/>
              <a:gdLst/>
              <a:ahLst/>
              <a:cxnLst/>
              <a:rect l="l" t="t" r="r" b="b"/>
              <a:pathLst>
                <a:path w="228600" h="3429000">
                  <a:moveTo>
                    <a:pt x="2286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228600" y="34290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5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505575"/>
              <a:ext cx="12192000" cy="352425"/>
            </a:xfrm>
            <a:custGeom>
              <a:avLst/>
              <a:gdLst/>
              <a:ahLst/>
              <a:cxnLst/>
              <a:rect l="l" t="t" r="r" b="b"/>
              <a:pathLst>
                <a:path w="12192000" h="352425">
                  <a:moveTo>
                    <a:pt x="0" y="352425"/>
                  </a:moveTo>
                  <a:lnTo>
                    <a:pt x="12192000" y="3524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52425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670" y="360388"/>
              <a:ext cx="1595980" cy="4560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8750" y="238061"/>
              <a:ext cx="6415151" cy="6510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91150" y="266700"/>
              <a:ext cx="6115050" cy="6210300"/>
            </a:xfrm>
            <a:custGeom>
              <a:avLst/>
              <a:gdLst/>
              <a:ahLst/>
              <a:cxnLst/>
              <a:rect l="l" t="t" r="r" b="b"/>
              <a:pathLst>
                <a:path w="6115050" h="6210300">
                  <a:moveTo>
                    <a:pt x="6115050" y="0"/>
                  </a:moveTo>
                  <a:lnTo>
                    <a:pt x="0" y="0"/>
                  </a:lnTo>
                  <a:lnTo>
                    <a:pt x="0" y="6210300"/>
                  </a:lnTo>
                  <a:lnTo>
                    <a:pt x="6115050" y="6210300"/>
                  </a:lnTo>
                  <a:lnTo>
                    <a:pt x="6115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93591" y="1600200"/>
            <a:ext cx="10604818" cy="332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and Prediction of Urban Resource Consumption for Sustainable Development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00" marR="2707005">
              <a:spcBef>
                <a:spcPts val="600"/>
              </a:spcBef>
            </a:pPr>
            <a:r>
              <a:rPr sz="1550" b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55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5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1550" b="1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00" marR="2707005">
              <a:spcBef>
                <a:spcPts val="600"/>
              </a:spcBef>
            </a:pPr>
            <a:endParaRPr lang="en-IN" sz="1550" b="1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000" marR="2707005">
              <a:spcBef>
                <a:spcPts val="600"/>
              </a:spcBef>
            </a:pPr>
            <a:r>
              <a:rPr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sz="155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155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Kirtan Thumar</a:t>
            </a:r>
          </a:p>
          <a:p>
            <a:pPr marL="144000" marR="2707005">
              <a:spcBef>
                <a:spcPts val="600"/>
              </a:spcBef>
            </a:pPr>
            <a:r>
              <a:rPr sz="155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155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5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sz="155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E. College, Morbi</a:t>
            </a:r>
          </a:p>
          <a:p>
            <a:pPr marL="144000" marR="2707005">
              <a:spcBef>
                <a:spcPts val="600"/>
              </a:spcBef>
            </a:pPr>
            <a:r>
              <a:rPr sz="15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IN" sz="15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</a:t>
            </a:r>
          </a:p>
          <a:p>
            <a:pPr marL="144000" marR="2707005">
              <a:spcBef>
                <a:spcPts val="600"/>
              </a:spcBef>
            </a:pPr>
            <a:r>
              <a:rPr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155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5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lang="en-IN" sz="155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kirtanthumar@gmail.com </a:t>
            </a:r>
            <a:endParaRPr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DD1956-4CB2-149F-D02C-2800331C8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963" y="2743200"/>
            <a:ext cx="2057400" cy="2646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219200"/>
            <a:ext cx="7387590" cy="708078"/>
          </a:xfrm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Definition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4800" y="2286000"/>
            <a:ext cx="10413365" cy="3227486"/>
          </a:xfrm>
          <a:prstGeom prst="rect">
            <a:avLst/>
          </a:prstGeom>
        </p:spPr>
        <p:txBody>
          <a:bodyPr vert="horz" wrap="square" lIns="0" tIns="209232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areas face increasing challenges in managing essential resources such as energy, water, and waste due to rapid population growth and urbanization.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historical urban resource consumption data to identify trends, relationships, and inefficiencies, and applies machine learning techniques to predict future demand for sustainable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838200"/>
            <a:ext cx="5833745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2057400"/>
            <a:ext cx="10205720" cy="2286588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data of energy, water, and waste consumption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relationship between population growth and resource usage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exploratory data analysis for pattern identification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predictive models using machine learning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forecast future resource demand using multi-feature inputs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" y="638174"/>
            <a:ext cx="8074978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364105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Features / Functionalities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557" y="1712912"/>
            <a:ext cx="9782175" cy="329910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preprocessing of real-world datasets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trends in energy, water, and waste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patterns using graphs and charts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between variables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future resource demand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sustainability-based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 descr="$PPTXTitle">
            <a:extLst>
              <a:ext uri="{FF2B5EF4-FFF2-40B4-BE49-F238E27FC236}">
                <a16:creationId xmlns:a16="http://schemas.microsoft.com/office/drawing/2014/main" id="{B477B000-F076-80AB-8C67-812857A476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422" y="660009"/>
            <a:ext cx="6779578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364105" algn="l"/>
              </a:tabLst>
            </a:pPr>
            <a:r>
              <a:rPr spc="-10" dirty="0">
                <a:latin typeface="+mj-lt"/>
              </a:rPr>
              <a:t>SYSTEM</a:t>
            </a:r>
            <a:r>
              <a:rPr dirty="0">
                <a:latin typeface="+mj-lt"/>
              </a:rPr>
              <a:t>	</a:t>
            </a:r>
            <a:r>
              <a:rPr lang="en-IN" spc="-10" dirty="0">
                <a:latin typeface="+mj-lt"/>
              </a:rPr>
              <a:t>WORKFLOW</a:t>
            </a:r>
            <a:r>
              <a:rPr spc="-10" dirty="0">
                <a:latin typeface="+mj-lt"/>
              </a:rPr>
              <a:t>:</a:t>
            </a: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076ACBC4-E771-BF12-20B7-362CD4E2AED8}"/>
              </a:ext>
            </a:extLst>
          </p:cNvPr>
          <p:cNvSpPr txBox="1"/>
          <p:nvPr/>
        </p:nvSpPr>
        <p:spPr>
          <a:xfrm>
            <a:off x="396557" y="1734747"/>
            <a:ext cx="9782175" cy="321825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Data collection from multiple sources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Data cleaning and formatting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Data merging based on year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Exploratory Data Analysis (EDA)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Population prediction using regression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Multi-feature machine learning model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Future prediction and result visualization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7469" y="685800"/>
            <a:ext cx="10133331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>
                <a:latin typeface="+mj-lt"/>
              </a:rPr>
              <a:t>EXPLORATORY DATA ANALYSIS (EDA)</a:t>
            </a:r>
            <a:endParaRPr spc="20" dirty="0"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250" y="2304192"/>
            <a:ext cx="9277350" cy="137672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Time-series analysis showed a steady increase in resource usage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Correlation heatmap revealed strong relationships between variables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Scatter plots showed dependency of resource consumption on population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9347CD-1254-F8A4-FA47-485171B0F7A2}"/>
              </a:ext>
            </a:extLst>
          </p:cNvPr>
          <p:cNvSpPr txBox="1"/>
          <p:nvPr/>
        </p:nvSpPr>
        <p:spPr>
          <a:xfrm>
            <a:off x="417194" y="1752600"/>
            <a:ext cx="9336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EDA was performed to understand trends and relationships in the dataset.</a:t>
            </a:r>
            <a:endParaRPr lang="en-IN" sz="20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653E56-3BDD-CED3-A055-F1C5BD2FA97D}"/>
              </a:ext>
            </a:extLst>
          </p:cNvPr>
          <p:cNvSpPr txBox="1"/>
          <p:nvPr/>
        </p:nvSpPr>
        <p:spPr>
          <a:xfrm>
            <a:off x="476250" y="4038600"/>
            <a:ext cx="9336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</a:rPr>
              <a:t>Key Insight: </a:t>
            </a:r>
            <a:r>
              <a:rPr lang="en-US" sz="2000" dirty="0">
                <a:latin typeface="+mj-lt"/>
              </a:rPr>
              <a:t>Resource consumption increases with population growth</a:t>
            </a:r>
            <a:endParaRPr lang="en-IN" sz="20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6B7E-0DEF-C900-A89C-E4A46ED72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15D341-5308-1F09-DE32-3E08E34B766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7469" y="685800"/>
            <a:ext cx="9617075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>
                <a:latin typeface="+mj-lt"/>
              </a:rPr>
              <a:t>VISUALIZATION</a:t>
            </a:r>
            <a:endParaRPr spc="20" dirty="0">
              <a:latin typeface="+mj-l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45D470-8246-6D4B-BF1C-2DAC1CF4DD64}"/>
              </a:ext>
            </a:extLst>
          </p:cNvPr>
          <p:cNvSpPr txBox="1"/>
          <p:nvPr/>
        </p:nvSpPr>
        <p:spPr>
          <a:xfrm>
            <a:off x="476250" y="2304192"/>
            <a:ext cx="9277350" cy="137672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Line graphs for trend analysis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Heatmaps for correlation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Scatter plots for relationships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518D9-D49A-D408-8CA9-757F8EA37160}"/>
              </a:ext>
            </a:extLst>
          </p:cNvPr>
          <p:cNvSpPr txBox="1"/>
          <p:nvPr/>
        </p:nvSpPr>
        <p:spPr>
          <a:xfrm>
            <a:off x="417194" y="1752600"/>
            <a:ext cx="9336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Different types of graphs were used to better understand the data:</a:t>
            </a:r>
            <a:endParaRPr lang="en-IN" sz="20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58ED2-95F9-8113-E34C-35AB4BE9EF9F}"/>
              </a:ext>
            </a:extLst>
          </p:cNvPr>
          <p:cNvSpPr txBox="1"/>
          <p:nvPr/>
        </p:nvSpPr>
        <p:spPr>
          <a:xfrm>
            <a:off x="476250" y="4038600"/>
            <a:ext cx="93364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These visualizations help in identifying patterns clearly and make the analysis more interpretable.</a:t>
            </a:r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3437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62F7-EEBC-4A65-3433-9B7CC1930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" y="685800"/>
            <a:ext cx="9142731" cy="553998"/>
          </a:xfrm>
        </p:spPr>
        <p:txBody>
          <a:bodyPr/>
          <a:lstStyle/>
          <a:p>
            <a:r>
              <a:rPr lang="en-IN" sz="3600" dirty="0">
                <a:latin typeface="+mj-lt"/>
              </a:rPr>
              <a:t>REVIEW OF RELATED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1DE78-A5AB-F829-A231-0B2E9E5D4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635" y="1547749"/>
            <a:ext cx="10413365" cy="2492990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Existing systems focus on:</a:t>
            </a:r>
          </a:p>
          <a:p>
            <a:r>
              <a:rPr lang="en-US" sz="1800" dirty="0">
                <a:latin typeface="+mj-lt"/>
              </a:rPr>
              <a:t> 	Energy consumption analysis </a:t>
            </a:r>
          </a:p>
          <a:p>
            <a:r>
              <a:rPr lang="en-US" sz="1800" dirty="0">
                <a:latin typeface="+mj-lt"/>
              </a:rPr>
              <a:t> 	Water usage monitoring </a:t>
            </a:r>
          </a:p>
          <a:p>
            <a:r>
              <a:rPr lang="en-US" sz="1800" dirty="0">
                <a:latin typeface="+mj-lt"/>
              </a:rPr>
              <a:t> 	Waste management systems </a:t>
            </a:r>
          </a:p>
          <a:p>
            <a:r>
              <a:rPr lang="en-US" sz="1800" dirty="0">
                <a:latin typeface="+mj-lt"/>
              </a:rPr>
              <a:t>Limitations:</a:t>
            </a:r>
          </a:p>
          <a:p>
            <a:r>
              <a:rPr lang="en-US" sz="1800" dirty="0">
                <a:latin typeface="+mj-lt"/>
              </a:rPr>
              <a:t> 	Mostly focus on a single resource </a:t>
            </a:r>
          </a:p>
          <a:p>
            <a:r>
              <a:rPr lang="en-US" sz="1800" dirty="0">
                <a:latin typeface="+mj-lt"/>
              </a:rPr>
              <a:t> 	Lack of integrated analysis </a:t>
            </a:r>
          </a:p>
          <a:p>
            <a:r>
              <a:rPr lang="en-US" sz="1800" dirty="0">
                <a:latin typeface="+mj-lt"/>
              </a:rPr>
              <a:t> 	Limited use of predictive models</a:t>
            </a:r>
          </a:p>
          <a:p>
            <a:endParaRPr lang="en-IN" sz="1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44EED-7577-70FB-72D3-4A66257CB4BD}"/>
              </a:ext>
            </a:extLst>
          </p:cNvPr>
          <p:cNvSpPr txBox="1"/>
          <p:nvPr/>
        </p:nvSpPr>
        <p:spPr>
          <a:xfrm>
            <a:off x="304800" y="4191000"/>
            <a:ext cx="62224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+mj-lt"/>
              </a:rPr>
              <a:t>HOW THIS PROJECT IS DIFFERENT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Combines analysis of energy, water, and waste together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Uses machine learning for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Applies multi-feature modeling (year and population)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Uses Indian datasets for realistic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Can be extended to smart city applications</a:t>
            </a:r>
          </a:p>
        </p:txBody>
      </p:sp>
    </p:spTree>
    <p:extLst>
      <p:ext uri="{BB962C8B-B14F-4D97-AF65-F5344CB8AC3E}">
        <p14:creationId xmlns:p14="http://schemas.microsoft.com/office/powerpoint/2010/main" val="824660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FF4B-37E8-784D-4A92-638570D9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58AC30-2A80-E10C-88A9-9DF1AEC3CB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7469" y="685800"/>
            <a:ext cx="9617075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>
                <a:latin typeface="+mj-lt"/>
              </a:rPr>
              <a:t>MACHINE LEARNING APPROACH</a:t>
            </a:r>
            <a:endParaRPr spc="2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4EFC2-2E40-34FA-F047-7910B2AC87AD}"/>
              </a:ext>
            </a:extLst>
          </p:cNvPr>
          <p:cNvSpPr txBox="1"/>
          <p:nvPr/>
        </p:nvSpPr>
        <p:spPr>
          <a:xfrm>
            <a:off x="476250" y="1658801"/>
            <a:ext cx="93364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The project uses regression-based machine learning models: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Linear Regression for basic trend prediction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Polynomial Regression for capturing non-linear patterns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E957F-B6E4-5BA8-1F1A-CA570B6C1D81}"/>
              </a:ext>
            </a:extLst>
          </p:cNvPr>
          <p:cNvSpPr txBox="1"/>
          <p:nvPr/>
        </p:nvSpPr>
        <p:spPr>
          <a:xfrm>
            <a:off x="476250" y="3022935"/>
            <a:ext cx="93364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+mj-lt"/>
              </a:rPr>
              <a:t>Features used: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Year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Population </a:t>
            </a:r>
          </a:p>
        </p:txBody>
      </p:sp>
    </p:spTree>
    <p:extLst>
      <p:ext uri="{BB962C8B-B14F-4D97-AF65-F5344CB8AC3E}">
        <p14:creationId xmlns:p14="http://schemas.microsoft.com/office/powerpoint/2010/main" val="392166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0B19-494C-55FC-72AE-632E150E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C468A8-17AE-AB68-E517-84EEB7E1CC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7469" y="685800"/>
            <a:ext cx="9617075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>
                <a:latin typeface="+mj-lt"/>
              </a:rPr>
              <a:t>MODEL PERFORMANCE</a:t>
            </a:r>
            <a:endParaRPr spc="2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0E74A-73F9-68DE-7BBA-9EBEF4CAE7E1}"/>
              </a:ext>
            </a:extLst>
          </p:cNvPr>
          <p:cNvSpPr txBox="1"/>
          <p:nvPr/>
        </p:nvSpPr>
        <p:spPr>
          <a:xfrm>
            <a:off x="381000" y="1752600"/>
            <a:ext cx="855345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Polynomial regression performed better than linear regression </a:t>
            </a:r>
          </a:p>
          <a:p>
            <a:pPr marL="5143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It captured non-linear growth patterns more effectively </a:t>
            </a:r>
          </a:p>
          <a:p>
            <a:pPr marL="5143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Model accuracy improved after adding population as a feature</a:t>
            </a:r>
          </a:p>
        </p:txBody>
      </p:sp>
    </p:spTree>
    <p:extLst>
      <p:ext uri="{BB962C8B-B14F-4D97-AF65-F5344CB8AC3E}">
        <p14:creationId xmlns:p14="http://schemas.microsoft.com/office/powerpoint/2010/main" val="1692748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585A-2E7F-B0A3-83AE-83A235552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E65848-AF03-5261-EE94-FE46B007A45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7469" y="685800"/>
            <a:ext cx="9617075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IN" dirty="0">
                <a:latin typeface="+mj-lt"/>
              </a:rPr>
              <a:t>FUTURE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0A46B-7A83-7AA4-647D-0EF5CF87A363}"/>
              </a:ext>
            </a:extLst>
          </p:cNvPr>
          <p:cNvSpPr txBox="1"/>
          <p:nvPr/>
        </p:nvSpPr>
        <p:spPr>
          <a:xfrm>
            <a:off x="381000" y="1752600"/>
            <a:ext cx="85534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Future population values were predicted first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These values were used along with future years</a:t>
            </a:r>
          </a:p>
          <a:p>
            <a:pPr lvl="0"/>
            <a:endParaRPr lang="en-IN" b="1" dirty="0">
              <a:latin typeface="+mj-lt"/>
            </a:endParaRPr>
          </a:p>
          <a:p>
            <a:pPr lvl="0"/>
            <a:r>
              <a:rPr lang="en-IN" sz="1800" b="1" dirty="0">
                <a:latin typeface="+mj-lt"/>
              </a:rPr>
              <a:t>Resource consumption was predicted for</a:t>
            </a:r>
            <a:r>
              <a:rPr lang="en-IN" sz="1800" dirty="0">
                <a:latin typeface="+mj-lt"/>
              </a:rPr>
              <a:t>: 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Energy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Water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Waste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72708-EFC4-39D6-A9E3-0FBD55B872E8}"/>
              </a:ext>
            </a:extLst>
          </p:cNvPr>
          <p:cNvSpPr txBox="1"/>
          <p:nvPr/>
        </p:nvSpPr>
        <p:spPr>
          <a:xfrm>
            <a:off x="428625" y="4229243"/>
            <a:ext cx="845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+mj-lt"/>
              </a:rPr>
              <a:t>Results indicate a continuous increase in resource demand </a:t>
            </a:r>
          </a:p>
        </p:txBody>
      </p:sp>
    </p:spTree>
    <p:extLst>
      <p:ext uri="{BB962C8B-B14F-4D97-AF65-F5344CB8AC3E}">
        <p14:creationId xmlns:p14="http://schemas.microsoft.com/office/powerpoint/2010/main" val="173558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C5CF-E893-1F9B-84FD-D7F80622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7387590" cy="607859"/>
          </a:xfrm>
        </p:spPr>
        <p:txBody>
          <a:bodyPr/>
          <a:lstStyle/>
          <a:p>
            <a:r>
              <a:rPr lang="en-IN" dirty="0">
                <a:latin typeface="+mj-lt"/>
              </a:rPr>
              <a:t>Algorithms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367-A004-344A-9A84-39F52E333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2286000"/>
            <a:ext cx="10413365" cy="992579"/>
          </a:xfrm>
        </p:spPr>
        <p:txBody>
          <a:bodyPr/>
          <a:lstStyle/>
          <a:p>
            <a:r>
              <a:rPr lang="en-IN" dirty="0">
                <a:latin typeface="+mj-lt"/>
              </a:rPr>
              <a:t>Algorithm 1: Linear Regression for prediction</a:t>
            </a:r>
          </a:p>
          <a:p>
            <a:r>
              <a:rPr lang="en-IN" dirty="0">
                <a:latin typeface="+mj-lt"/>
              </a:rPr>
              <a:t>Algorithm 2: </a:t>
            </a:r>
            <a:r>
              <a:rPr lang="en-US" dirty="0">
                <a:latin typeface="+mj-lt"/>
              </a:rPr>
              <a:t>Polynomial Regression for improved accuracy</a:t>
            </a: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8870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A21D3-3093-26C6-C3F9-8FB1EBC70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5810-4726-FD14-2EEB-64AD229D5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7387590" cy="607859"/>
          </a:xfrm>
        </p:spPr>
        <p:txBody>
          <a:bodyPr/>
          <a:lstStyle/>
          <a:p>
            <a:r>
              <a:rPr lang="en-IN" dirty="0">
                <a:latin typeface="+mj-lt"/>
              </a:rPr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E2337-6E86-48DB-7CAF-7A34FC45D366}"/>
              </a:ext>
            </a:extLst>
          </p:cNvPr>
          <p:cNvSpPr txBox="1"/>
          <p:nvPr/>
        </p:nvSpPr>
        <p:spPr>
          <a:xfrm>
            <a:off x="381000" y="1676400"/>
            <a:ext cx="1005840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The analysis and modeling produced the following key results: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Resource consumption (energy, water, waste) shows a </a:t>
            </a:r>
            <a:r>
              <a:rPr lang="en-US" b="1" dirty="0">
                <a:latin typeface="+mj-lt"/>
              </a:rPr>
              <a:t>consistent increasing trend over time</a:t>
            </a:r>
            <a:r>
              <a:rPr lang="en-US" dirty="0">
                <a:latin typeface="+mj-lt"/>
              </a:rPr>
              <a:t>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 </a:t>
            </a:r>
            <a:r>
              <a:rPr lang="en-US" b="1" dirty="0">
                <a:latin typeface="+mj-lt"/>
              </a:rPr>
              <a:t>strong positive correlation</a:t>
            </a:r>
            <a:r>
              <a:rPr lang="en-US" dirty="0">
                <a:latin typeface="+mj-lt"/>
              </a:rPr>
              <a:t> was observed between population growth and resource usage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The multi-feature machine learning model (Year + Population) provided </a:t>
            </a:r>
            <a:r>
              <a:rPr lang="en-US" b="1" dirty="0">
                <a:latin typeface="+mj-lt"/>
              </a:rPr>
              <a:t>more accurate predictions</a:t>
            </a:r>
            <a:r>
              <a:rPr lang="en-US" dirty="0">
                <a:latin typeface="+mj-lt"/>
              </a:rPr>
              <a:t> compared to single-feature models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Polynomial regression performed better by capturing </a:t>
            </a:r>
            <a:r>
              <a:rPr lang="en-US" b="1" dirty="0">
                <a:latin typeface="+mj-lt"/>
              </a:rPr>
              <a:t>non-linear growth patterns</a:t>
            </a:r>
            <a:endParaRPr lang="en-US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0F908-4DC0-8DE8-14AF-EB093CD296C8}"/>
              </a:ext>
            </a:extLst>
          </p:cNvPr>
          <p:cNvSpPr txBox="1"/>
          <p:nvPr/>
        </p:nvSpPr>
        <p:spPr>
          <a:xfrm>
            <a:off x="381000" y="4858434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+mj-lt"/>
              </a:rPr>
              <a:t>Overall, the model successfully predicts future resource demand with reasonable accuracy</a:t>
            </a:r>
          </a:p>
        </p:txBody>
      </p:sp>
    </p:spTree>
    <p:extLst>
      <p:ext uri="{BB962C8B-B14F-4D97-AF65-F5344CB8AC3E}">
        <p14:creationId xmlns:p14="http://schemas.microsoft.com/office/powerpoint/2010/main" val="3042555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31F6-A1C1-607C-B747-D4709AE0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3F19-6E00-C5DB-CE4D-926BD8E4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9067800" cy="607859"/>
          </a:xfrm>
        </p:spPr>
        <p:txBody>
          <a:bodyPr/>
          <a:lstStyle/>
          <a:p>
            <a:r>
              <a:rPr lang="en-IN" dirty="0">
                <a:latin typeface="+mj-lt"/>
              </a:rPr>
              <a:t>INTERPRETATION OF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F9CDE-62DE-3953-D382-934C3D13FAE8}"/>
              </a:ext>
            </a:extLst>
          </p:cNvPr>
          <p:cNvSpPr txBox="1"/>
          <p:nvPr/>
        </p:nvSpPr>
        <p:spPr>
          <a:xfrm>
            <a:off x="381000" y="1676400"/>
            <a:ext cx="100584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Urban resource consumption is highly dependent on population growth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Linear models capture general trends, but polynomial models better reflect real-world patterns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The dataset shows steady growth, indicating increasing pressure on urban infrastructure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Prediction results highlight the need for efficient resource planning and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B2B43D-091B-D5BD-06FE-DA967DBE0077}"/>
              </a:ext>
            </a:extLst>
          </p:cNvPr>
          <p:cNvSpPr txBox="1"/>
          <p:nvPr/>
        </p:nvSpPr>
        <p:spPr>
          <a:xfrm>
            <a:off x="381000" y="4858434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Insight:</a:t>
            </a:r>
            <a:r>
              <a:rPr lang="en-US" dirty="0">
                <a:latin typeface="+mj-lt"/>
              </a:rPr>
              <a:t> Without proper planning, resource demand may exceed supply in future</a:t>
            </a: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6045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91060-87C3-450B-7428-63794003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AD88-8B1F-EAD7-724C-E14AA4AF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9067800" cy="607859"/>
          </a:xfrm>
        </p:spPr>
        <p:txBody>
          <a:bodyPr/>
          <a:lstStyle/>
          <a:p>
            <a:r>
              <a:rPr lang="en-IN" dirty="0">
                <a:latin typeface="+mj-lt"/>
              </a:rPr>
              <a:t>CONCLUSION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30EC6A-CBB0-EBD9-9AB5-13CA8B329DA6}"/>
              </a:ext>
            </a:extLst>
          </p:cNvPr>
          <p:cNvSpPr txBox="1"/>
          <p:nvPr/>
        </p:nvSpPr>
        <p:spPr>
          <a:xfrm>
            <a:off x="381000" y="4858434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The approach can support decision-making in real-world urban planning systems</a:t>
            </a:r>
            <a:endParaRPr lang="en-IN" sz="18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0E743-24F4-3F51-0510-FD48B18FAC30}"/>
              </a:ext>
            </a:extLst>
          </p:cNvPr>
          <p:cNvSpPr txBox="1"/>
          <p:nvPr/>
        </p:nvSpPr>
        <p:spPr>
          <a:xfrm>
            <a:off x="381000" y="1999566"/>
            <a:ext cx="1082040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This project demonstrates how data analytics and machine learning can be used to analyze and predict urban resource consumption.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Historical data analysis helped identify key patterns and trends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Machine learning models improved forecasting capability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Multi-feature modeling (Year + Population) enhanced prediction accuracy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The project provides meaningful insights for </a:t>
            </a:r>
            <a:r>
              <a:rPr lang="en-US" b="1" dirty="0">
                <a:latin typeface="+mj-lt"/>
              </a:rPr>
              <a:t>sustainable urban development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597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8CF5-05EC-A825-F150-C2AF193C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AE881-2649-FE77-DE68-C17815CD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9067800" cy="607859"/>
          </a:xfrm>
        </p:spPr>
        <p:txBody>
          <a:bodyPr/>
          <a:lstStyle/>
          <a:p>
            <a:r>
              <a:rPr lang="en-IN" dirty="0">
                <a:latin typeface="+mj-lt"/>
              </a:rPr>
              <a:t>LIMITATIONS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B7B95-E379-28FD-4B13-6893F3B1BA94}"/>
              </a:ext>
            </a:extLst>
          </p:cNvPr>
          <p:cNvSpPr txBox="1"/>
          <p:nvPr/>
        </p:nvSpPr>
        <p:spPr>
          <a:xfrm>
            <a:off x="228600" y="1351571"/>
            <a:ext cx="874242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800"/>
              </a:spcAf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Dataset size is limited and based on historical aggregated data </a:t>
            </a:r>
          </a:p>
          <a:p>
            <a:pPr marL="228600">
              <a:spcAft>
                <a:spcPts val="800"/>
              </a:spcAf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Data shows mostly linear trends, limiting complexity of </a:t>
            </a:r>
            <a:r>
              <a:rPr lang="en-IN" sz="1800" kern="100" dirty="0" err="1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modeling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</a:p>
          <a:p>
            <a:pPr marL="228600">
              <a:spcAft>
                <a:spcPts val="800"/>
              </a:spcAf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External factors like climate, policy changes, and economic conditions are not included </a:t>
            </a:r>
          </a:p>
          <a:p>
            <a:pPr marL="228600">
              <a:spcAft>
                <a:spcPts val="800"/>
              </a:spcAf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Predictions are based on assumptions and may vary in real-world scenarios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C421E00-B5E0-D226-58F7-FC8C8A6962F6}"/>
              </a:ext>
            </a:extLst>
          </p:cNvPr>
          <p:cNvSpPr txBox="1">
            <a:spLocks/>
          </p:cNvSpPr>
          <p:nvPr/>
        </p:nvSpPr>
        <p:spPr>
          <a:xfrm>
            <a:off x="228600" y="2947266"/>
            <a:ext cx="9067800" cy="607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IN" dirty="0">
                <a:latin typeface="+mj-lt"/>
              </a:rPr>
              <a:t>FUTURE SCOPE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577BE6-C78A-B260-820F-8F40782399B6}"/>
              </a:ext>
            </a:extLst>
          </p:cNvPr>
          <p:cNvSpPr txBox="1"/>
          <p:nvPr/>
        </p:nvSpPr>
        <p:spPr>
          <a:xfrm>
            <a:off x="391287" y="3555125"/>
            <a:ext cx="874242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Integration of real-time data sources for dynamic prediction </a:t>
            </a:r>
          </a:p>
          <a:p>
            <a:pPr marL="228600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Use of advanced machine learning models (Random Forest, </a:t>
            </a:r>
            <a:r>
              <a:rPr lang="en-IN" sz="1800" kern="100" dirty="0" err="1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XGBoost</a:t>
            </a: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) </a:t>
            </a:r>
          </a:p>
          <a:p>
            <a:pPr marL="228600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Development of interactive dashboards for visualization </a:t>
            </a:r>
          </a:p>
          <a:p>
            <a:pPr marL="228600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Expansion to multiple cities for comparative analysis </a:t>
            </a:r>
          </a:p>
          <a:p>
            <a:pPr marL="228600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Shruti" panose="020B0502040204020203" pitchFamily="34" charset="0"/>
              </a:rPr>
              <a:t>Application in smart city planning and resource optimization systems</a:t>
            </a:r>
          </a:p>
        </p:txBody>
      </p:sp>
    </p:spTree>
    <p:extLst>
      <p:ext uri="{BB962C8B-B14F-4D97-AF65-F5344CB8AC3E}">
        <p14:creationId xmlns:p14="http://schemas.microsoft.com/office/powerpoint/2010/main" val="2011152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685800"/>
            <a:ext cx="7387590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+mj-lt"/>
              </a:rPr>
              <a:t>REFERENCES: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83F88B-D691-5F69-C5D9-899B724B8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0453" y="1335166"/>
            <a:ext cx="10142747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Government of India – Open Government Data (OGD) Platform</a:t>
            </a:r>
            <a:br>
              <a:rPr lang="en-IN" sz="1400" dirty="0">
                <a:latin typeface="+mj-lt"/>
              </a:rPr>
            </a:br>
            <a:r>
              <a:rPr lang="en-IN" sz="1400" u="sng" dirty="0">
                <a:latin typeface="+mj-lt"/>
                <a:hlinkClick r:id="rId2"/>
              </a:rPr>
              <a:t>https://data.gov.in</a:t>
            </a:r>
            <a:r>
              <a:rPr lang="en-IN" sz="1400" dirty="0"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Brihanmumbai Municipal Corporation (BMC) – Hydraulic Department Reports (ESR Reports)</a:t>
            </a:r>
            <a:br>
              <a:rPr lang="en-IN" sz="1400" dirty="0">
                <a:latin typeface="+mj-lt"/>
              </a:rPr>
            </a:br>
            <a:r>
              <a:rPr lang="en-IN" sz="1400" i="1" dirty="0">
                <a:latin typeface="+mj-lt"/>
              </a:rPr>
              <a:t>(Water consumption and sewage data for Mumbai)</a:t>
            </a:r>
            <a:r>
              <a:rPr lang="en-IN" sz="1400" dirty="0"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Central Pollution Control Board (CPCB), Ministry of Environment, Forest and Climate Change</a:t>
            </a:r>
            <a:br>
              <a:rPr lang="en-IN" sz="1400" dirty="0">
                <a:latin typeface="+mj-lt"/>
              </a:rPr>
            </a:br>
            <a:r>
              <a:rPr lang="en-IN" sz="1400" i="1" dirty="0">
                <a:latin typeface="+mj-lt"/>
              </a:rPr>
              <a:t>(Municipal solid waste generation data)</a:t>
            </a:r>
            <a:br>
              <a:rPr lang="en-IN" sz="1400" dirty="0">
                <a:latin typeface="+mj-lt"/>
              </a:rPr>
            </a:br>
            <a:r>
              <a:rPr lang="en-IN" sz="1400" u="sng" dirty="0">
                <a:latin typeface="+mj-lt"/>
                <a:hlinkClick r:id="rId3"/>
              </a:rPr>
              <a:t>https://cpcb.nic.in</a:t>
            </a:r>
            <a:r>
              <a:rPr lang="en-IN" sz="1400" dirty="0"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Central Water Commission (CWC), Ministry of Jal Shakti</a:t>
            </a:r>
            <a:br>
              <a:rPr lang="en-IN" sz="1400" dirty="0">
                <a:latin typeface="+mj-lt"/>
              </a:rPr>
            </a:br>
            <a:r>
              <a:rPr lang="en-IN" sz="1400" i="1" dirty="0">
                <a:latin typeface="+mj-lt"/>
              </a:rPr>
              <a:t>(Water resource and consumption statistics)</a:t>
            </a:r>
            <a:br>
              <a:rPr lang="en-IN" sz="1400" dirty="0">
                <a:latin typeface="+mj-lt"/>
              </a:rPr>
            </a:br>
            <a:r>
              <a:rPr lang="en-IN" sz="1400" u="sng" dirty="0">
                <a:latin typeface="+mj-lt"/>
                <a:hlinkClick r:id="rId4"/>
              </a:rPr>
              <a:t>https://cwc.gov.in</a:t>
            </a:r>
            <a:r>
              <a:rPr lang="en-IN" sz="1400" dirty="0"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Power System Operation Corporation Ltd. (POSOCO)</a:t>
            </a:r>
            <a:br>
              <a:rPr lang="en-IN" sz="1400" dirty="0">
                <a:latin typeface="+mj-lt"/>
              </a:rPr>
            </a:br>
            <a:r>
              <a:rPr lang="en-IN" sz="1400" i="1" dirty="0">
                <a:latin typeface="+mj-lt"/>
              </a:rPr>
              <a:t>(Electricity consumption and energy usage data)</a:t>
            </a:r>
            <a:br>
              <a:rPr lang="en-IN" sz="1400" dirty="0">
                <a:latin typeface="+mj-lt"/>
              </a:rPr>
            </a:br>
            <a:r>
              <a:rPr lang="en-IN" sz="1400" u="sng" dirty="0">
                <a:latin typeface="+mj-lt"/>
                <a:hlinkClick r:id="rId5"/>
              </a:rPr>
              <a:t>https://posoco.in</a:t>
            </a:r>
            <a:endParaRPr lang="en-IN" sz="1400" u="sng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+mj-lt"/>
              </a:rPr>
              <a:t>Tools &amp;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Python Software Foundation</a:t>
            </a:r>
            <a:br>
              <a:rPr lang="en-IN" sz="1400" dirty="0">
                <a:latin typeface="+mj-lt"/>
              </a:rPr>
            </a:br>
            <a:r>
              <a:rPr lang="en-IN" sz="1400" dirty="0">
                <a:latin typeface="+mj-lt"/>
                <a:hlinkClick r:id="rId6"/>
              </a:rPr>
              <a:t>https://www.python.org</a:t>
            </a:r>
            <a:r>
              <a:rPr lang="en-IN" sz="1400" dirty="0"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Scikit-learn Documentation (Machine Learning Models)</a:t>
            </a:r>
            <a:br>
              <a:rPr lang="en-IN" sz="1400" dirty="0">
                <a:latin typeface="+mj-lt"/>
              </a:rPr>
            </a:br>
            <a:r>
              <a:rPr lang="en-IN" sz="1400" dirty="0">
                <a:latin typeface="+mj-lt"/>
                <a:hlinkClick r:id="rId7"/>
              </a:rPr>
              <a:t>https://scikit-learn.org</a:t>
            </a:r>
            <a:r>
              <a:rPr lang="en-IN" sz="1400" dirty="0"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Pandas &amp; NumPy Documentation (Data Processing)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Matplotlib &amp; Seaborn Documentation (Visualization)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000" y="2960602"/>
            <a:ext cx="38862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dirty="0">
                <a:solidFill>
                  <a:srgbClr val="001F5F"/>
                </a:solidFill>
                <a:latin typeface="+mj-lt"/>
              </a:rPr>
              <a:t>Thank</a:t>
            </a:r>
            <a:r>
              <a:rPr sz="6000" spc="-195" dirty="0">
                <a:solidFill>
                  <a:srgbClr val="001F5F"/>
                </a:solidFill>
                <a:latin typeface="+mj-lt"/>
              </a:rPr>
              <a:t> </a:t>
            </a:r>
            <a:r>
              <a:rPr lang="en-IN" sz="6000" spc="-65" dirty="0">
                <a:solidFill>
                  <a:srgbClr val="001F5F"/>
                </a:solidFill>
                <a:latin typeface="+mj-lt"/>
              </a:rPr>
              <a:t>Y</a:t>
            </a:r>
            <a:r>
              <a:rPr sz="6000" spc="-65" dirty="0">
                <a:solidFill>
                  <a:srgbClr val="001F5F"/>
                </a:solidFill>
                <a:latin typeface="+mj-lt"/>
              </a:rPr>
              <a:t>o</a:t>
            </a:r>
            <a:r>
              <a:rPr lang="en-IN" sz="6000" spc="-65" dirty="0">
                <a:solidFill>
                  <a:srgbClr val="001F5F"/>
                </a:solidFill>
                <a:latin typeface="+mj-lt"/>
              </a:rPr>
              <a:t>u</a:t>
            </a:r>
            <a:endParaRPr sz="60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971</Words>
  <Application>Microsoft Office PowerPoint</Application>
  <PresentationFormat>Widescreen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Franklin Gothic Medium</vt:lpstr>
      <vt:lpstr>Times New Roman</vt:lpstr>
      <vt:lpstr>Office Theme</vt:lpstr>
      <vt:lpstr>PowerPoint Presentation</vt:lpstr>
      <vt:lpstr>Project Definition:</vt:lpstr>
      <vt:lpstr>Objective</vt:lpstr>
      <vt:lpstr>Project Features / Functionalities</vt:lpstr>
      <vt:lpstr>SYSTEM WORKFLOW:</vt:lpstr>
      <vt:lpstr>EXPLORATORY DATA ANALYSIS (EDA)</vt:lpstr>
      <vt:lpstr>VISUALIZATION</vt:lpstr>
      <vt:lpstr>REVIEW OF RELATED PROJECTS</vt:lpstr>
      <vt:lpstr>MACHINE LEARNING APPROACH</vt:lpstr>
      <vt:lpstr>MODEL PERFORMANCE</vt:lpstr>
      <vt:lpstr>FUTURE PREDICTION</vt:lpstr>
      <vt:lpstr>Algorithms Used</vt:lpstr>
      <vt:lpstr>RESULTS</vt:lpstr>
      <vt:lpstr>INTERPRETATION OF RESULTS</vt:lpstr>
      <vt:lpstr>CONCLUSION </vt:lpstr>
      <vt:lpstr>LIMITATIONS 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Kirtan</dc:creator>
  <cp:lastModifiedBy>Kirtan Thumar</cp:lastModifiedBy>
  <cp:revision>6</cp:revision>
  <dcterms:created xsi:type="dcterms:W3CDTF">2026-02-16T03:56:26Z</dcterms:created>
  <dcterms:modified xsi:type="dcterms:W3CDTF">2026-04-03T06:30:56Z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LastSaved">
    <vt:filetime>2026-02-16T00:00:00Z</vt:filetime>
  </property>
</Properties>
</file>